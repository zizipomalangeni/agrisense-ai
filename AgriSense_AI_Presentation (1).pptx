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2B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0080" y="640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AgriSense.AI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CE0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South Africa's water crisis in agriculture, one photo at a time.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3931920"/>
            <a:ext cx="1371600" cy="45720"/>
          </a:xfrm>
          <a:prstGeom prst="rect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 ·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Solutions  ·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+ Rural Farmers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TanStack Start  ·  Lovable Cloud  ·  Google Gemini 2.5 Flash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 Africa is running dry.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28800"/>
            <a:ext cx="47548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828800"/>
            <a:ext cx="6035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19202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6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955280" y="1965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SA's freshwater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 agriculture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0" y="3246120"/>
            <a:ext cx="6035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3337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6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7955280" y="33832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available water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 allocated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0" y="4663440"/>
            <a:ext cx="6035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47548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6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795528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municipalities face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water cuts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farmers. One platform.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692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25400">
            <a:solidFill>
              <a:srgbClr val="1B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669280" cy="137160"/>
          </a:xfrm>
          <a:prstGeom prst="rect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Smallholder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Soweto, Khayelitsha, Mamelodi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Backyard &amp; community gardens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Tomatoes, spinach, peppers, herbs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water, no extension officer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Smartphone-first, low data budget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6692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25400">
            <a:solidFill>
              <a:srgbClr val="3F7D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828800"/>
            <a:ext cx="5669280" cy="137160"/>
          </a:xfrm>
          <a:prstGeom prst="rect">
            <a:avLst/>
          </a:prstGeom>
          <a:solidFill>
            <a:srgbClr val="3F7D4F"/>
          </a:solidFill>
          <a:ln w="12700">
            <a:solidFill>
              <a:srgbClr val="3F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Rural Commercial Farmer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State, Limpopo, Eastern Cape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Maize, livestock, citrus, vines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Boreholes, dams, drip &amp; flood irrigation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Load-shedding hits pumps &amp; cold-chain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fast diagnosis at scale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AgriSense.AI in one breath.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web app that lets any South African farmer snap a photo of a sick plant, thin cow, dry soil or leaking pipe — and get an instant, water-first diagnosis with a 3-step action plan.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0180" y="3383280"/>
            <a:ext cx="731520" cy="731520"/>
          </a:xfrm>
          <a:prstGeom prst="ellipse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018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AI for crops, livestock, soil &amp; water.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32004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0540" y="3383280"/>
            <a:ext cx="731520" cy="731520"/>
          </a:xfrm>
          <a:prstGeom prst="ellipse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054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4251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Advisor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0440" y="4754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for SA-specific agronomy questions.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00900" y="3383280"/>
            <a:ext cx="731520" cy="731520"/>
          </a:xfrm>
          <a:prstGeom prst="ellipse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090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4251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Water-First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4754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prioritises saving water.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98280" y="32004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81260" y="3383280"/>
            <a:ext cx="731520" cy="731520"/>
          </a:xfrm>
          <a:prstGeom prst="ellipse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8126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89720" y="4251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81160" y="4754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farmers to finance, transport &amp; markets.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One-tap sample diagnosis.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clickable demo images — judges &amp; first-time farmers can experience the AI without uploading a single file.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3F7D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651760"/>
            <a:ext cx="1417320" cy="1417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2651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🌽 Sick maize leaf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246888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3F7D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6280" y="2651760"/>
            <a:ext cx="1417320" cy="1417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80760" y="2651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 Underweight cattle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38160" y="246888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3F7D4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75320" y="2651760"/>
            <a:ext cx="1417320" cy="1417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29800" y="2651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Wilted vegetables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4348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3F7D4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7240" y="4617720"/>
            <a:ext cx="1417320" cy="1417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331720" y="461772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Leaking irrigation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389120" y="44348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3F7D4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26280" y="4617720"/>
            <a:ext cx="1417320" cy="1417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80760" y="461772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🟫 Cracked dry soil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8138160" y="44348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3F7D4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75320" y="4617720"/>
            <a:ext cx="1417320" cy="1417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829800" y="461772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🍅 Tomato blight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25" name="Text 17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🌽 Maize leaf — nitrogen + water stress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28800"/>
            <a:ext cx="457200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989320"/>
            <a:ext cx="4572000" cy="320040"/>
          </a:xfrm>
          <a:prstGeom prst="rect">
            <a:avLst/>
          </a:prstGeom>
          <a:solidFill>
            <a:srgbClr val="1F3A2B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Uploaded by farmer · Diagnosed by Gemini 2.5 Flash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94960" y="182880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18288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94960" y="2606040"/>
            <a:ext cx="6400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69748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Yellowing between the veins on lower leaves with a V-shape from the tip suggests nitrogen deficiency, often worsened by water stress. Soil is likely dry to root depth.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94960" y="3931920"/>
            <a:ext cx="109728" cy="685800"/>
          </a:xfrm>
          <a:prstGeom prst="rect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3931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(today)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418795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Deep-water at root zone in early morning. Mulch with dry grass to lock moisture.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94960" y="4709160"/>
            <a:ext cx="109728" cy="685800"/>
          </a:xfrm>
          <a:prstGeom prst="rect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47091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77840" y="496519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Side-dress 30 g LAN per plant after rain. Scout daily for fall armyworm.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94960" y="5486400"/>
            <a:ext cx="109728" cy="685800"/>
          </a:xfrm>
          <a:prstGeom prst="rect">
            <a:avLst/>
          </a:prstGeom>
          <a:solidFill>
            <a:srgbClr val="3F7D4F"/>
          </a:solidFill>
          <a:ln w="12700">
            <a:solidFill>
              <a:srgbClr val="3F7D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54864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77840" y="574243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with cowpea/legume next season; install drip on this block.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🐄 Underweight Nguni — BCS 2/5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28800"/>
            <a:ext cx="457200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989320"/>
            <a:ext cx="4572000" cy="320040"/>
          </a:xfrm>
          <a:prstGeom prst="rect">
            <a:avLst/>
          </a:prstGeom>
          <a:solidFill>
            <a:srgbClr val="1F3A2B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Uploaded by farmer · Diagnosed by Gemini 2.5 Flash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94960" y="182880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18288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94960" y="2606040"/>
            <a:ext cx="6400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69748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ribs, sunken flanks and dull coat. Body Condition Score around 2 out of 5. Likely protein and energy shortfall on dry winter veld.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94960" y="3931920"/>
            <a:ext cx="109728" cy="685800"/>
          </a:xfrm>
          <a:prstGeom prst="rect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3931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(today)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418795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shaded camp with clean trough water within 200 m of grazing.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94960" y="4709160"/>
            <a:ext cx="109728" cy="685800"/>
          </a:xfrm>
          <a:prstGeom prst="rect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47091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77840" y="496519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500 g/day protein lick (urea-based). Deworm and check ticks.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94960" y="5486400"/>
            <a:ext cx="109728" cy="685800"/>
          </a:xfrm>
          <a:prstGeom prst="rect">
            <a:avLst/>
          </a:prstGeom>
          <a:solidFill>
            <a:srgbClr val="3F7D4F"/>
          </a:solidFill>
          <a:ln w="12700">
            <a:solidFill>
              <a:srgbClr val="3F7D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54864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77840" y="574243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stocking rate; oversow with Eragrostis for winter standing hay.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🟫 Cracked dry soil — severe moisture loss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28800"/>
            <a:ext cx="457200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989320"/>
            <a:ext cx="4572000" cy="320040"/>
          </a:xfrm>
          <a:prstGeom prst="rect">
            <a:avLst/>
          </a:prstGeom>
          <a:solidFill>
            <a:srgbClr val="1F3A2B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Uploaded by farmer · Diagnosed by Gemini 2.5 Flash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94960" y="182880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18288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94960" y="2606040"/>
            <a:ext cx="6400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69748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polygonal cracks indicate clay soil that has lost most of its water. Capillary rise is exposing the root zone — seedlings will scorch.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94960" y="3931920"/>
            <a:ext cx="109728" cy="685800"/>
          </a:xfrm>
          <a:prstGeom prst="rect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3931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(today)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418795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bare soil with 5 cm mulch (straw, cardboard, leaves) before noon.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94960" y="4709160"/>
            <a:ext cx="109728" cy="685800"/>
          </a:xfrm>
          <a:prstGeom prst="rect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47091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77840" y="496519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shallow swales across slope; harvest greywater into a 200 L drum.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94960" y="5486400"/>
            <a:ext cx="109728" cy="685800"/>
          </a:xfrm>
          <a:prstGeom prst="rect">
            <a:avLst/>
          </a:prstGeom>
          <a:solidFill>
            <a:srgbClr val="3F7D4F"/>
          </a:solidFill>
          <a:ln w="12700">
            <a:solidFill>
              <a:srgbClr val="3F7D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54864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77840" y="574243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drip + plant cover crops (sun hemp) to rebuild organic matter.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Chat: a farmer in Limpopo at 06:12.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873752" y="182880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56632" y="187452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Sawubona. My borehole is giving brown water and my tomatoes wilt by 10am. What do I do?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686800" cy="1828800"/>
          </a:xfrm>
          <a:prstGeom prst="roundRect">
            <a:avLst>
              <a:gd name="adj" fmla="val 4000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Sanibonani. Brown borehole water = iron/sediment after a heavy draw or low water table. Don't irrigate tomatoes with it directly.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Today: Pump 10 min into a settling drum, let it stand 2 hrs, water from the top.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week: Fit a 50-micron sediment filter at the outlet (R350 at most co-ops).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Long-term: Test borehole yield + harvest rainwater (~2 000 L per 20 mm rain on 100 m²).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73752" y="4434840"/>
            <a:ext cx="6858000" cy="411480"/>
          </a:xfrm>
          <a:prstGeom prst="roundRect">
            <a:avLst>
              <a:gd name="adj" fmla="val 17778"/>
            </a:avLst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6632" y="4480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Eish, and the wilting?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983480"/>
            <a:ext cx="8686800" cy="1005840"/>
          </a:xfrm>
          <a:prstGeom prst="roundRect">
            <a:avLst>
              <a:gd name="adj" fmla="val 7273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0292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10am wilt with cool nights = water stress + heat, not disease yet. Mulch with 5 cm dry grass, add 40% shade-cloth, water at 5am only. If leaves curl upward tomorrow, send a photo.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apps already in the field.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3F7D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3749040" cy="640080"/>
          </a:xfrm>
          <a:prstGeom prst="rect">
            <a:avLst/>
          </a:prstGeom>
          <a:solidFill>
            <a:srgbClr val="3F7D4F"/>
          </a:solidFill>
          <a:ln w="12700">
            <a:solidFill>
              <a:srgbClr val="3F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Plantix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photo 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image library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 water focus, no livestock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1B6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920240"/>
            <a:ext cx="3749040" cy="640080"/>
          </a:xfrm>
          <a:prstGeom prst="rect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Aerobotics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+ AI for orchards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474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High-precision, used by SA citrus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Enterprise-only, expensive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92024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E08D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920240"/>
            <a:ext cx="3749040" cy="640080"/>
          </a:xfrm>
          <a:prstGeom prst="rect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Khula!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0392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for SA smallholders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3474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farmers to buyers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diagnosis or agronomic advice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263640"/>
            <a:ext cx="11247120" cy="320040"/>
          </a:xfrm>
          <a:prstGeom prst="roundRect">
            <a:avLst>
              <a:gd name="adj" fmla="val 14286"/>
            </a:avLst>
          </a:prstGeom>
          <a:solidFill>
            <a:srgbClr val="1F3A2B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= water-first + crops + livestock + soil + irrigation, in one free app.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 touches every sector.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175504" y="3200400"/>
            <a:ext cx="1828800" cy="1828800"/>
          </a:xfrm>
          <a:prstGeom prst="ellipse">
            <a:avLst/>
          </a:prstGeom>
          <a:solidFill>
            <a:srgbClr val="1F3A2B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75504" y="3200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6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national water → smarter irrigation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88552" y="1828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08D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25712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25712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&amp; rural roads to market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3F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074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5440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loans, insurance, micro-credit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88552" y="50292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C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5074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25712" y="5440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 &amp; cold rooms hit by load-shedding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75504" y="548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08D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2664" y="594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12664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Agro-processing, packaging, agri-tech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75504" y="58521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6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2664" y="5897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12664" y="6263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 &amp; nutrition outcomes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under the hood.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82880" cy="914400"/>
          </a:xfrm>
          <a:prstGeom prst="rect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Client (TanStack Start + React 19)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/, /diagnose, /advisor, /insights · Tailwind v4 · sonner · react-markdown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F7D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80360"/>
            <a:ext cx="182880" cy="914400"/>
          </a:xfrm>
          <a:prstGeom prst="rect">
            <a:avLst/>
          </a:prstGeom>
          <a:solidFill>
            <a:srgbClr val="3F7D4F"/>
          </a:solidFill>
          <a:ln w="12700">
            <a:solidFill>
              <a:srgbClr val="3F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71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Edge (Lovable Cloud)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 `agri-ai` · CORS · request validation · error mapping (402/429)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8D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31920"/>
            <a:ext cx="182880" cy="914400"/>
          </a:xfrm>
          <a:prstGeom prst="rect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233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AI (Lovable AI Gateway)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389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google/gemini-2.5-flash · multimodal (text + image_url) · system prompt = SA water-first agronomist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C6B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983480"/>
            <a:ext cx="182880" cy="914400"/>
          </a:xfrm>
          <a:prstGeom prst="rect">
            <a:avLst/>
          </a:prstGeom>
          <a:solidFill>
            <a:srgbClr val="5C6B5F"/>
          </a:solidFill>
          <a:ln w="12700">
            <a:solidFill>
              <a:srgbClr val="5C6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074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Storage (future)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54406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Storage for diagnosis history, farm profiles, RLS by user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/diagnose → fileToBase64 → supabase.functions.invoke('agri-ai') → Gemini → markdown plan → ReactMarkdown render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PLAYBOOK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AgriSense actually saves water.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731520" cy="731520"/>
          </a:xfrm>
          <a:prstGeom prst="ellipse">
            <a:avLst/>
          </a:prstGeom>
          <a:solidFill>
            <a:srgbClr val="BCE0FB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Drip + mulch defaults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33172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irrigation answer leads with drip and 5cm mulch — cuts use 30–60%.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03120"/>
            <a:ext cx="731520" cy="731520"/>
          </a:xfrm>
          <a:prstGeom prst="ellipse">
            <a:avLst/>
          </a:prstGeom>
          <a:solidFill>
            <a:srgbClr val="BCE0FB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🌧️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19659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Rainwater harvesting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233172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litres-per-roof and recommends JoJo sizes by district rainfall.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66160"/>
            <a:ext cx="731520" cy="731520"/>
          </a:xfrm>
          <a:prstGeom prst="ellipse">
            <a:avLst/>
          </a:prstGeom>
          <a:solidFill>
            <a:srgbClr val="BCE0FB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90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Greywater reuse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7947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Safe-use guidance for kitchen/laundry water on non-edible parts.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291840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566160"/>
            <a:ext cx="731520" cy="731520"/>
          </a:xfrm>
          <a:prstGeom prst="ellipse">
            <a:avLst/>
          </a:prstGeom>
          <a:solidFill>
            <a:srgbClr val="BCE0FB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34290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Time-of-day scheduling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37947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pre-dawn watering windows aligned to load-shedding stages.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029200"/>
            <a:ext cx="731520" cy="731520"/>
          </a:xfrm>
          <a:prstGeom prst="ellipse">
            <a:avLst/>
          </a:prstGeom>
          <a:solidFill>
            <a:srgbClr val="BCE0FB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029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🩺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48920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 detection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525780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Photo-diagnoses leaking pipes, valves and float-valves with fix-it steps.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754880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5029200"/>
            <a:ext cx="731520" cy="731520"/>
          </a:xfrm>
          <a:prstGeom prst="ellipse">
            <a:avLst/>
          </a:prstGeom>
          <a:solidFill>
            <a:srgbClr val="BCE0FB"/>
          </a:solidFill>
          <a:ln w="12700">
            <a:solidFill>
              <a:srgbClr val="BCE0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029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60920" y="48920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Drought-tolerant choices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60920" y="525780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sorghum, cowpea, amaranth swaps for high-water crops.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 ·  AI for South African Agriculture &amp; Water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2B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hackathon to harvest.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E0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670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live · 6 sample diagnoses · AI advisor chat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E0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30 days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4472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isiZulu + Sesotho · offline PWA · WhatsApp bot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E0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months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2245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sensor integration · weather alerts · co-op partnerships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00600"/>
            <a:ext cx="457200" cy="457200"/>
          </a:xfrm>
          <a:prstGeom prst="ellipse">
            <a:avLst/>
          </a:prstGeom>
          <a:solidFill>
            <a:srgbClr val="E08D3C"/>
          </a:solidFill>
          <a:ln w="12700">
            <a:solidFill>
              <a:srgbClr val="E08D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E0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months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5001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vision for zero-data farms · finance &amp; insurance hooks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8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now →  aqua-agro-wise.lovable.app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AgriSense.AI · Water-first AI for South African agriculture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F2B8D3B2C05B47825A9E6B4BEC5E21" ma:contentTypeVersion="3" ma:contentTypeDescription="Create a new document." ma:contentTypeScope="" ma:versionID="a1d71af28b7949a1a3d8fec00b0ae590">
  <xsd:schema xmlns:xsd="http://www.w3.org/2001/XMLSchema" xmlns:xs="http://www.w3.org/2001/XMLSchema" xmlns:p="http://schemas.microsoft.com/office/2006/metadata/properties" xmlns:ns2="2738166f-7b01-4842-bfd9-20d923713ba5" targetNamespace="http://schemas.microsoft.com/office/2006/metadata/properties" ma:root="true" ma:fieldsID="aca1d44a477fda36e5a34ae3248d1999" ns2:_="">
    <xsd:import namespace="2738166f-7b01-4842-bfd9-20d923713b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38166f-7b01-4842-bfd9-20d923713b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914B41-33DA-40F4-AED5-3B8B144BA3D0}"/>
</file>

<file path=customXml/itemProps2.xml><?xml version="1.0" encoding="utf-8"?>
<ds:datastoreItem xmlns:ds="http://schemas.openxmlformats.org/officeDocument/2006/customXml" ds:itemID="{66055A33-C937-43C3-9E9D-D954A307DFF1}"/>
</file>

<file path=customXml/itemProps3.xml><?xml version="1.0" encoding="utf-8"?>
<ds:datastoreItem xmlns:ds="http://schemas.openxmlformats.org/officeDocument/2006/customXml" ds:itemID="{6785AFB5-AAE6-4A5F-ABF5-7C34CA89E90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AgriSense.AI</dc:title>
  <dc:subject>PptxGenJS Presentation</dc:subject>
  <dc:creator>PptxGenJS</dc:creator>
  <cp:lastModifiedBy>PptxGenJS</cp:lastModifiedBy>
  <cp:revision>1</cp:revision>
  <dcterms:created xsi:type="dcterms:W3CDTF">2026-05-13T07:24:43Z</dcterms:created>
  <dcterms:modified xsi:type="dcterms:W3CDTF">2026-05-13T07:24:43Z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0x01010024F2B8D3B2C05B47825A9E6B4BEC5E21</vt:lpwstr>
  </property>
</Properties>
</file>